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tserrat Bold" charset="1" panose="00000800000000000000"/>
      <p:regular r:id="rId17"/>
    </p:embeddedFont>
    <p:embeddedFont>
      <p:font typeface="Open Sans" charset="1" panose="00000000000000000000"/>
      <p:regular r:id="rId18"/>
    </p:embeddedFont>
    <p:embeddedFont>
      <p:font typeface="Open Sans Bold" charset="1" panose="00000000000000000000"/>
      <p:regular r:id="rId19"/>
    </p:embeddedFont>
    <p:embeddedFont>
      <p:font typeface="Montserrat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12738" y="3481401"/>
            <a:ext cx="1137437" cy="113743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275067" y="3538551"/>
            <a:ext cx="13737866" cy="378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4"/>
              </a:lnSpc>
            </a:pPr>
            <a:r>
              <a:rPr lang="en-US" b="true" sz="600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PENGEMBANGAN SISTEM SPEECH-TO-TEXT BAHASA INDONESIA BERBASIS PENGOLAHAN SINYAL DIGITAL</a:t>
            </a:r>
          </a:p>
          <a:p>
            <a:pPr algn="ctr">
              <a:lnSpc>
                <a:spcPts val="3414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650744" cy="515862"/>
          </a:xfrm>
          <a:custGeom>
            <a:avLst/>
            <a:gdLst/>
            <a:ahLst/>
            <a:cxnLst/>
            <a:rect r="r" b="b" t="t" l="l"/>
            <a:pathLst>
              <a:path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54367" y="8594705"/>
            <a:ext cx="425077" cy="42507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429463" y="8593190"/>
            <a:ext cx="293547" cy="29354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850174" y="4446260"/>
            <a:ext cx="349058" cy="349058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418546" y="8807243"/>
            <a:ext cx="1971124" cy="197112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425708" y="3793203"/>
            <a:ext cx="345156" cy="34515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744194" y="3688641"/>
            <a:ext cx="155786" cy="15578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880696" y="1055868"/>
            <a:ext cx="5677871" cy="413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45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Pengolahan Sinyal Digital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362118" y="7273036"/>
            <a:ext cx="5563764" cy="842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b="true" sz="2454" spc="1389">
                <a:solidFill>
                  <a:srgbClr val="4EA4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KELOMPOK 17 PSD 2023D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650744" cy="515862"/>
          </a:xfrm>
          <a:custGeom>
            <a:avLst/>
            <a:gdLst/>
            <a:ahLst/>
            <a:cxnLst/>
            <a:rect r="r" b="b" t="t" l="l"/>
            <a:pathLst>
              <a:path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67394" y="3932363"/>
            <a:ext cx="4865968" cy="5325937"/>
            <a:chOff x="0" y="0"/>
            <a:chExt cx="1281572" cy="14027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1572" cy="1402716"/>
            </a:xfrm>
            <a:custGeom>
              <a:avLst/>
              <a:gdLst/>
              <a:ahLst/>
              <a:cxnLst/>
              <a:rect r="r" b="b" t="t" l="l"/>
              <a:pathLst>
                <a:path h="1402716" w="1281572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1370895"/>
                  </a:lnTo>
                  <a:cubicBezTo>
                    <a:pt x="1281572" y="1379335"/>
                    <a:pt x="1278219" y="1387428"/>
                    <a:pt x="1272252" y="1393396"/>
                  </a:cubicBezTo>
                  <a:cubicBezTo>
                    <a:pt x="1266284" y="1399364"/>
                    <a:pt x="1258191" y="1402716"/>
                    <a:pt x="1249751" y="1402716"/>
                  </a:cubicBezTo>
                  <a:lnTo>
                    <a:pt x="31821" y="1402716"/>
                  </a:lnTo>
                  <a:cubicBezTo>
                    <a:pt x="23381" y="1402716"/>
                    <a:pt x="15288" y="1399364"/>
                    <a:pt x="9320" y="1393396"/>
                  </a:cubicBezTo>
                  <a:cubicBezTo>
                    <a:pt x="3353" y="1387428"/>
                    <a:pt x="0" y="1379335"/>
                    <a:pt x="0" y="1370895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281572" cy="14312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11016" y="3932363"/>
            <a:ext cx="4865968" cy="5325937"/>
            <a:chOff x="0" y="0"/>
            <a:chExt cx="1281572" cy="14027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1572" cy="1402716"/>
            </a:xfrm>
            <a:custGeom>
              <a:avLst/>
              <a:gdLst/>
              <a:ahLst/>
              <a:cxnLst/>
              <a:rect r="r" b="b" t="t" l="l"/>
              <a:pathLst>
                <a:path h="1402716" w="1281572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1370895"/>
                  </a:lnTo>
                  <a:cubicBezTo>
                    <a:pt x="1281572" y="1379335"/>
                    <a:pt x="1278219" y="1387428"/>
                    <a:pt x="1272252" y="1393396"/>
                  </a:cubicBezTo>
                  <a:cubicBezTo>
                    <a:pt x="1266284" y="1399364"/>
                    <a:pt x="1258191" y="1402716"/>
                    <a:pt x="1249751" y="1402716"/>
                  </a:cubicBezTo>
                  <a:lnTo>
                    <a:pt x="31821" y="1402716"/>
                  </a:lnTo>
                  <a:cubicBezTo>
                    <a:pt x="23381" y="1402716"/>
                    <a:pt x="15288" y="1399364"/>
                    <a:pt x="9320" y="1393396"/>
                  </a:cubicBezTo>
                  <a:cubicBezTo>
                    <a:pt x="3353" y="1387428"/>
                    <a:pt x="0" y="1379335"/>
                    <a:pt x="0" y="1370895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281572" cy="14312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954638" y="3932363"/>
            <a:ext cx="4865968" cy="5325937"/>
            <a:chOff x="0" y="0"/>
            <a:chExt cx="1281572" cy="14027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1572" cy="1402716"/>
            </a:xfrm>
            <a:custGeom>
              <a:avLst/>
              <a:gdLst/>
              <a:ahLst/>
              <a:cxnLst/>
              <a:rect r="r" b="b" t="t" l="l"/>
              <a:pathLst>
                <a:path h="1402716" w="1281572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1370895"/>
                  </a:lnTo>
                  <a:cubicBezTo>
                    <a:pt x="1281572" y="1379335"/>
                    <a:pt x="1278219" y="1387428"/>
                    <a:pt x="1272252" y="1393396"/>
                  </a:cubicBezTo>
                  <a:cubicBezTo>
                    <a:pt x="1266284" y="1399364"/>
                    <a:pt x="1258191" y="1402716"/>
                    <a:pt x="1249751" y="1402716"/>
                  </a:cubicBezTo>
                  <a:lnTo>
                    <a:pt x="31821" y="1402716"/>
                  </a:lnTo>
                  <a:cubicBezTo>
                    <a:pt x="23381" y="1402716"/>
                    <a:pt x="15288" y="1399364"/>
                    <a:pt x="9320" y="1393396"/>
                  </a:cubicBezTo>
                  <a:cubicBezTo>
                    <a:pt x="3353" y="1387428"/>
                    <a:pt x="0" y="1379335"/>
                    <a:pt x="0" y="1370895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281572" cy="14312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61163" y="3364841"/>
            <a:ext cx="243672" cy="24367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041796" y="3484159"/>
            <a:ext cx="243672" cy="24367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004835" y="3030781"/>
            <a:ext cx="408184" cy="40818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633613" y="3150099"/>
            <a:ext cx="408184" cy="40818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7738627" y="8934113"/>
            <a:ext cx="1971124" cy="1971124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880696" y="1055868"/>
            <a:ext cx="3917528" cy="413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45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Kelompok 17 - PSD23D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843947" y="2296916"/>
            <a:ext cx="1260010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Kelompok 17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38286" y="7738331"/>
            <a:ext cx="4524184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b="true" sz="2300" spc="14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Faishal Bayu Pratama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158956" y="7738331"/>
            <a:ext cx="3970089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b="true" sz="2300" spc="14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Mutiara Restu Aulya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002532" y="8341062"/>
            <a:ext cx="3795692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2331554092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246154" y="8341062"/>
            <a:ext cx="3795692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23031554113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489776" y="7738331"/>
            <a:ext cx="379569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b="true" sz="2300" spc="14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Yogi Ramadhani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489776" y="8341062"/>
            <a:ext cx="3795692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23031554198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23648" y="2407982"/>
            <a:ext cx="5360060" cy="6850318"/>
            <a:chOff x="0" y="0"/>
            <a:chExt cx="7146747" cy="9133757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4912" t="0" r="24912" b="0"/>
            <a:stretch>
              <a:fillRect/>
            </a:stretch>
          </p:blipFill>
          <p:spPr>
            <a:xfrm flipH="false" flipV="false">
              <a:off x="0" y="0"/>
              <a:ext cx="7146747" cy="9133757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2986995" y="3591500"/>
            <a:ext cx="3498835" cy="4483282"/>
            <a:chOff x="0" y="0"/>
            <a:chExt cx="4665113" cy="597771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25611" t="0" r="25611" b="0"/>
            <a:stretch>
              <a:fillRect/>
            </a:stretch>
          </p:blipFill>
          <p:spPr>
            <a:xfrm flipH="false" flipV="false">
              <a:off x="0" y="0"/>
              <a:ext cx="4665113" cy="5977710"/>
            </a:xfrm>
            <a:prstGeom prst="rect">
              <a:avLst/>
            </a:prstGeom>
          </p:spPr>
        </p:pic>
      </p:grpSp>
      <p:sp>
        <p:nvSpPr>
          <p:cNvPr name="TextBox 6" id="6"/>
          <p:cNvSpPr txBox="true"/>
          <p:nvPr/>
        </p:nvSpPr>
        <p:spPr>
          <a:xfrm rot="0">
            <a:off x="7555769" y="2932792"/>
            <a:ext cx="8415794" cy="106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Latar Belakang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650744" cy="515862"/>
          </a:xfrm>
          <a:custGeom>
            <a:avLst/>
            <a:gdLst/>
            <a:ahLst/>
            <a:cxnLst/>
            <a:rect r="r" b="b" t="t" l="l"/>
            <a:pathLst>
              <a:path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684564" y="9301438"/>
            <a:ext cx="1971124" cy="197112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555769" y="4130747"/>
            <a:ext cx="9032971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79"/>
              </a:lnSpc>
              <a:spcBef>
                <a:spcPct val="0"/>
              </a:spcBef>
            </a:pPr>
            <a:r>
              <a:rPr lang="en-US" sz="23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Teknologi pengenalan suara semakin penting di era digital, digunakan dalam asisten virtual, pencarian suara, dan navigasi. Namun, sebagian besar sistem speech-to-text lebih fokus pada Bahasa Inggris, sementara Bahasa Indonesia masih kurang diperhatikan. Kebutuhan sistem real-time untuk layanan publik dan pendidikan juga semakin tinggi. Proyek ini bertujuan mengembangkan sistem real-time speech-to-text untuk Bahasa Indonesia dengan membandingkan dua metode, yaitu Whisper.ai dan LSTM, untuk menemukan pendekatan terbaik.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490180" y="2071380"/>
            <a:ext cx="223236" cy="22323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684564" y="8712272"/>
            <a:ext cx="1092056" cy="109205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880696" y="1055868"/>
            <a:ext cx="3917528" cy="413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45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Kelompok 17 - PSD23D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650744" cy="515862"/>
          </a:xfrm>
          <a:custGeom>
            <a:avLst/>
            <a:gdLst/>
            <a:ahLst/>
            <a:cxnLst/>
            <a:rect r="r" b="b" t="t" l="l"/>
            <a:pathLst>
              <a:path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80696" y="2728948"/>
            <a:ext cx="8983857" cy="106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Tujuan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80696" y="4151763"/>
            <a:ext cx="8871816" cy="3448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4589"/>
              </a:lnSpc>
              <a:spcBef>
                <a:spcPct val="0"/>
              </a:spcBef>
              <a:buAutoNum type="arabicPeriod" startAt="1"/>
            </a:pPr>
            <a:r>
              <a:rPr lang="en-US" sz="26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Meng</a:t>
            </a:r>
            <a:r>
              <a:rPr lang="en-US" sz="2699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embangkan sistem speech-to-text Bahasa Indonesia.</a:t>
            </a:r>
          </a:p>
          <a:p>
            <a:pPr algn="l" marL="582927" indent="-291463" lvl="1">
              <a:lnSpc>
                <a:spcPts val="4589"/>
              </a:lnSpc>
              <a:spcBef>
                <a:spcPct val="0"/>
              </a:spcBef>
              <a:buAutoNum type="arabicPeriod" startAt="1"/>
            </a:pPr>
            <a:r>
              <a:rPr lang="en-US" sz="2699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Membandingkan performa Whisper openAI dengan model LSTM untuk pengenalan suara Bahasa Indonesia.</a:t>
            </a:r>
          </a:p>
          <a:p>
            <a:pPr algn="l" marL="0" indent="0" lvl="0">
              <a:lnSpc>
                <a:spcPts val="4589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2052828" y="2407982"/>
            <a:ext cx="5206472" cy="6850318"/>
            <a:chOff x="0" y="0"/>
            <a:chExt cx="6941963" cy="9133757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4"/>
            <a:srcRect l="24681" t="0" r="24681" b="0"/>
            <a:stretch>
              <a:fillRect/>
            </a:stretch>
          </p:blipFill>
          <p:spPr>
            <a:xfrm flipH="false" flipV="false">
              <a:off x="0" y="0"/>
              <a:ext cx="6941963" cy="9133757"/>
            </a:xfrm>
            <a:prstGeom prst="rect">
              <a:avLst/>
            </a:prstGeom>
          </p:spPr>
        </p:pic>
      </p:grpSp>
      <p:grpSp>
        <p:nvGrpSpPr>
          <p:cNvPr name="Group 7" id="7"/>
          <p:cNvGrpSpPr/>
          <p:nvPr/>
        </p:nvGrpSpPr>
        <p:grpSpPr>
          <a:xfrm rot="0">
            <a:off x="9961431" y="8092090"/>
            <a:ext cx="283334" cy="28333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291680" y="9301438"/>
            <a:ext cx="1971124" cy="197112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805426" y="1544562"/>
            <a:ext cx="223236" cy="22323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880696" y="1055868"/>
            <a:ext cx="3917528" cy="413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45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Kelompok 17 - PSD23D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650744" cy="515862"/>
          </a:xfrm>
          <a:custGeom>
            <a:avLst/>
            <a:gdLst/>
            <a:ahLst/>
            <a:cxnLst/>
            <a:rect r="r" b="b" t="t" l="l"/>
            <a:pathLst>
              <a:path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241813" y="2675731"/>
            <a:ext cx="4849921" cy="6343784"/>
            <a:chOff x="0" y="0"/>
            <a:chExt cx="6466561" cy="8458378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4"/>
            <a:srcRect l="0" t="949" r="0" b="949"/>
            <a:stretch>
              <a:fillRect/>
            </a:stretch>
          </p:blipFill>
          <p:spPr>
            <a:xfrm flipH="false" flipV="false">
              <a:off x="0" y="0"/>
              <a:ext cx="6466561" cy="8458378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0">
            <a:off x="1008098" y="2675731"/>
            <a:ext cx="4849921" cy="6343784"/>
            <a:chOff x="0" y="0"/>
            <a:chExt cx="6466561" cy="8458378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5"/>
            <a:srcRect l="10753" t="0" r="26079" b="24131"/>
            <a:stretch>
              <a:fillRect/>
            </a:stretch>
          </p:blipFill>
          <p:spPr>
            <a:xfrm flipH="false" flipV="false">
              <a:off x="0" y="0"/>
              <a:ext cx="6466561" cy="8458378"/>
            </a:xfrm>
            <a:prstGeom prst="rect">
              <a:avLst/>
            </a:prstGeom>
          </p:spPr>
        </p:pic>
      </p:grpSp>
      <p:grpSp>
        <p:nvGrpSpPr>
          <p:cNvPr name="Group 7" id="7"/>
          <p:cNvGrpSpPr/>
          <p:nvPr/>
        </p:nvGrpSpPr>
        <p:grpSpPr>
          <a:xfrm rot="0">
            <a:off x="10133555" y="1808616"/>
            <a:ext cx="223236" cy="22323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109828" y="6802405"/>
            <a:ext cx="345156" cy="34515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684564" y="9301438"/>
            <a:ext cx="1971124" cy="197112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110406" y="4369741"/>
            <a:ext cx="4819891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6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https://commonvoice.mozilla.org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04791" y="3842454"/>
            <a:ext cx="2553751" cy="49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48"/>
              </a:lnSpc>
              <a:spcBef>
                <a:spcPct val="0"/>
              </a:spcBef>
            </a:pPr>
            <a:r>
              <a:rPr lang="en-US" b="true" sz="2498">
                <a:solidFill>
                  <a:srgbClr val="4EA4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Sumber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10406" y="5599392"/>
            <a:ext cx="4819891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6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3.618 rekaman dilengkapi transkrip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10406" y="5072277"/>
            <a:ext cx="2553751" cy="49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48"/>
              </a:lnSpc>
              <a:spcBef>
                <a:spcPct val="0"/>
              </a:spcBef>
            </a:pPr>
            <a:r>
              <a:rPr lang="en-US" b="true" sz="2498">
                <a:solidFill>
                  <a:srgbClr val="4EA4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Jumlah Sampel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04791" y="2647156"/>
            <a:ext cx="6497534" cy="106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80696" y="1055868"/>
            <a:ext cx="3917528" cy="413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45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Kelompok 17 - PSD23D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650744" cy="515862"/>
          </a:xfrm>
          <a:custGeom>
            <a:avLst/>
            <a:gdLst/>
            <a:ahLst/>
            <a:cxnLst/>
            <a:rect r="r" b="b" t="t" l="l"/>
            <a:pathLst>
              <a:path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13257" y="3688691"/>
            <a:ext cx="6569934" cy="5569609"/>
            <a:chOff x="0" y="0"/>
            <a:chExt cx="1730353" cy="14668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30353" cy="1466893"/>
            </a:xfrm>
            <a:custGeom>
              <a:avLst/>
              <a:gdLst/>
              <a:ahLst/>
              <a:cxnLst/>
              <a:rect r="r" b="b" t="t" l="l"/>
              <a:pathLst>
                <a:path h="1466893" w="1730353">
                  <a:moveTo>
                    <a:pt x="23568" y="0"/>
                  </a:moveTo>
                  <a:lnTo>
                    <a:pt x="1706785" y="0"/>
                  </a:lnTo>
                  <a:cubicBezTo>
                    <a:pt x="1713036" y="0"/>
                    <a:pt x="1719030" y="2483"/>
                    <a:pt x="1723450" y="6903"/>
                  </a:cubicBezTo>
                  <a:cubicBezTo>
                    <a:pt x="1727870" y="11323"/>
                    <a:pt x="1730353" y="17317"/>
                    <a:pt x="1730353" y="23568"/>
                  </a:cubicBezTo>
                  <a:lnTo>
                    <a:pt x="1730353" y="1443325"/>
                  </a:lnTo>
                  <a:cubicBezTo>
                    <a:pt x="1730353" y="1449576"/>
                    <a:pt x="1727870" y="1455570"/>
                    <a:pt x="1723450" y="1459990"/>
                  </a:cubicBezTo>
                  <a:cubicBezTo>
                    <a:pt x="1719030" y="1464410"/>
                    <a:pt x="1713036" y="1466893"/>
                    <a:pt x="1706785" y="1466893"/>
                  </a:cubicBezTo>
                  <a:lnTo>
                    <a:pt x="23568" y="1466893"/>
                  </a:lnTo>
                  <a:cubicBezTo>
                    <a:pt x="17317" y="1466893"/>
                    <a:pt x="11323" y="1464410"/>
                    <a:pt x="6903" y="1459990"/>
                  </a:cubicBezTo>
                  <a:cubicBezTo>
                    <a:pt x="2483" y="1455570"/>
                    <a:pt x="0" y="1449576"/>
                    <a:pt x="0" y="1443325"/>
                  </a:cubicBezTo>
                  <a:lnTo>
                    <a:pt x="0" y="23568"/>
                  </a:lnTo>
                  <a:cubicBezTo>
                    <a:pt x="0" y="17317"/>
                    <a:pt x="2483" y="11323"/>
                    <a:pt x="6903" y="6903"/>
                  </a:cubicBezTo>
                  <a:cubicBezTo>
                    <a:pt x="11323" y="2483"/>
                    <a:pt x="17317" y="0"/>
                    <a:pt x="235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730353" cy="149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843947" y="2335055"/>
            <a:ext cx="1260010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Metode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43947" y="4219515"/>
            <a:ext cx="5802210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1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Long Short-Term Memory (LSTM)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97119" y="5330744"/>
            <a:ext cx="5802210" cy="323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9"/>
              </a:lnSpc>
            </a:pPr>
            <a:r>
              <a:rPr lang="en-US" sz="21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Pemrosesan sinyal dengan pembangunan dan pelatihan model, yang mencakup :</a:t>
            </a:r>
          </a:p>
          <a:p>
            <a:pPr algn="l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Ekstraksi Fitur</a:t>
            </a:r>
          </a:p>
          <a:p>
            <a:pPr algn="l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Reduksi Noise</a:t>
            </a:r>
          </a:p>
          <a:p>
            <a:pPr algn="l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Pembangunan Model</a:t>
            </a:r>
          </a:p>
          <a:p>
            <a:pPr algn="l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Pelatihan Model</a:t>
            </a:r>
          </a:p>
          <a:p>
            <a:pPr algn="l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Evaluasi Model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761163" y="3688691"/>
            <a:ext cx="243672" cy="24367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966762" y="3276951"/>
            <a:ext cx="243672" cy="24367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004835" y="3354631"/>
            <a:ext cx="408184" cy="40818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558579" y="2942892"/>
            <a:ext cx="408184" cy="40818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738627" y="8934113"/>
            <a:ext cx="1971124" cy="197112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880696" y="1055868"/>
            <a:ext cx="3917528" cy="413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45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Kelompok 17 - PSD23D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305048" y="3688691"/>
            <a:ext cx="6569934" cy="5569609"/>
            <a:chOff x="0" y="0"/>
            <a:chExt cx="1730353" cy="146689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30353" cy="1466893"/>
            </a:xfrm>
            <a:custGeom>
              <a:avLst/>
              <a:gdLst/>
              <a:ahLst/>
              <a:cxnLst/>
              <a:rect r="r" b="b" t="t" l="l"/>
              <a:pathLst>
                <a:path h="1466893" w="1730353">
                  <a:moveTo>
                    <a:pt x="23568" y="0"/>
                  </a:moveTo>
                  <a:lnTo>
                    <a:pt x="1706785" y="0"/>
                  </a:lnTo>
                  <a:cubicBezTo>
                    <a:pt x="1713036" y="0"/>
                    <a:pt x="1719030" y="2483"/>
                    <a:pt x="1723450" y="6903"/>
                  </a:cubicBezTo>
                  <a:cubicBezTo>
                    <a:pt x="1727870" y="11323"/>
                    <a:pt x="1730353" y="17317"/>
                    <a:pt x="1730353" y="23568"/>
                  </a:cubicBezTo>
                  <a:lnTo>
                    <a:pt x="1730353" y="1443325"/>
                  </a:lnTo>
                  <a:cubicBezTo>
                    <a:pt x="1730353" y="1449576"/>
                    <a:pt x="1727870" y="1455570"/>
                    <a:pt x="1723450" y="1459990"/>
                  </a:cubicBezTo>
                  <a:cubicBezTo>
                    <a:pt x="1719030" y="1464410"/>
                    <a:pt x="1713036" y="1466893"/>
                    <a:pt x="1706785" y="1466893"/>
                  </a:cubicBezTo>
                  <a:lnTo>
                    <a:pt x="23568" y="1466893"/>
                  </a:lnTo>
                  <a:cubicBezTo>
                    <a:pt x="17317" y="1466893"/>
                    <a:pt x="11323" y="1464410"/>
                    <a:pt x="6903" y="1459990"/>
                  </a:cubicBezTo>
                  <a:cubicBezTo>
                    <a:pt x="2483" y="1455570"/>
                    <a:pt x="0" y="1449576"/>
                    <a:pt x="0" y="1443325"/>
                  </a:cubicBezTo>
                  <a:lnTo>
                    <a:pt x="0" y="23568"/>
                  </a:lnTo>
                  <a:cubicBezTo>
                    <a:pt x="0" y="17317"/>
                    <a:pt x="2483" y="11323"/>
                    <a:pt x="6903" y="6903"/>
                  </a:cubicBezTo>
                  <a:cubicBezTo>
                    <a:pt x="11323" y="2483"/>
                    <a:pt x="17317" y="0"/>
                    <a:pt x="235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730353" cy="149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604970" y="4445575"/>
            <a:ext cx="3970089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b="true" sz="2300" spc="14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Whisper AI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03877" y="6044505"/>
            <a:ext cx="5754701" cy="136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39"/>
              </a:lnSpc>
              <a:spcBef>
                <a:spcPct val="0"/>
              </a:spcBef>
            </a:pPr>
            <a:r>
              <a:rPr lang="en-US" sz="21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Pemrosesan sinyal menggunakan model pre-trained “base” yang mendukung Bahasa Indonesia.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650744" cy="515862"/>
          </a:xfrm>
          <a:custGeom>
            <a:avLst/>
            <a:gdLst/>
            <a:ahLst/>
            <a:cxnLst/>
            <a:rect r="r" b="b" t="t" l="l"/>
            <a:pathLst>
              <a:path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13257" y="3688691"/>
            <a:ext cx="6569934" cy="5569609"/>
            <a:chOff x="0" y="0"/>
            <a:chExt cx="1730353" cy="14668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30353" cy="1466893"/>
            </a:xfrm>
            <a:custGeom>
              <a:avLst/>
              <a:gdLst/>
              <a:ahLst/>
              <a:cxnLst/>
              <a:rect r="r" b="b" t="t" l="l"/>
              <a:pathLst>
                <a:path h="1466893" w="1730353">
                  <a:moveTo>
                    <a:pt x="23568" y="0"/>
                  </a:moveTo>
                  <a:lnTo>
                    <a:pt x="1706785" y="0"/>
                  </a:lnTo>
                  <a:cubicBezTo>
                    <a:pt x="1713036" y="0"/>
                    <a:pt x="1719030" y="2483"/>
                    <a:pt x="1723450" y="6903"/>
                  </a:cubicBezTo>
                  <a:cubicBezTo>
                    <a:pt x="1727870" y="11323"/>
                    <a:pt x="1730353" y="17317"/>
                    <a:pt x="1730353" y="23568"/>
                  </a:cubicBezTo>
                  <a:lnTo>
                    <a:pt x="1730353" y="1443325"/>
                  </a:lnTo>
                  <a:cubicBezTo>
                    <a:pt x="1730353" y="1449576"/>
                    <a:pt x="1727870" y="1455570"/>
                    <a:pt x="1723450" y="1459990"/>
                  </a:cubicBezTo>
                  <a:cubicBezTo>
                    <a:pt x="1719030" y="1464410"/>
                    <a:pt x="1713036" y="1466893"/>
                    <a:pt x="1706785" y="1466893"/>
                  </a:cubicBezTo>
                  <a:lnTo>
                    <a:pt x="23568" y="1466893"/>
                  </a:lnTo>
                  <a:cubicBezTo>
                    <a:pt x="17317" y="1466893"/>
                    <a:pt x="11323" y="1464410"/>
                    <a:pt x="6903" y="1459990"/>
                  </a:cubicBezTo>
                  <a:cubicBezTo>
                    <a:pt x="2483" y="1455570"/>
                    <a:pt x="0" y="1449576"/>
                    <a:pt x="0" y="1443325"/>
                  </a:cubicBezTo>
                  <a:lnTo>
                    <a:pt x="0" y="23568"/>
                  </a:lnTo>
                  <a:cubicBezTo>
                    <a:pt x="0" y="17317"/>
                    <a:pt x="2483" y="11323"/>
                    <a:pt x="6903" y="6903"/>
                  </a:cubicBezTo>
                  <a:cubicBezTo>
                    <a:pt x="11323" y="2483"/>
                    <a:pt x="17317" y="0"/>
                    <a:pt x="235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730353" cy="149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843947" y="2335055"/>
            <a:ext cx="1260010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Hasil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43947" y="4219515"/>
            <a:ext cx="5802210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1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Long Short-Term Memory (LSTM)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761163" y="3688691"/>
            <a:ext cx="243672" cy="24367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966762" y="3276951"/>
            <a:ext cx="243672" cy="24367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004835" y="3354631"/>
            <a:ext cx="408184" cy="40818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558579" y="2942892"/>
            <a:ext cx="408184" cy="40818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738627" y="8934113"/>
            <a:ext cx="1971124" cy="197112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880696" y="1055868"/>
            <a:ext cx="3917528" cy="413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45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Kelompok 17 - PSD23D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305048" y="3688691"/>
            <a:ext cx="6569934" cy="5569609"/>
            <a:chOff x="0" y="0"/>
            <a:chExt cx="1730353" cy="146689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30353" cy="1466893"/>
            </a:xfrm>
            <a:custGeom>
              <a:avLst/>
              <a:gdLst/>
              <a:ahLst/>
              <a:cxnLst/>
              <a:rect r="r" b="b" t="t" l="l"/>
              <a:pathLst>
                <a:path h="1466893" w="1730353">
                  <a:moveTo>
                    <a:pt x="23568" y="0"/>
                  </a:moveTo>
                  <a:lnTo>
                    <a:pt x="1706785" y="0"/>
                  </a:lnTo>
                  <a:cubicBezTo>
                    <a:pt x="1713036" y="0"/>
                    <a:pt x="1719030" y="2483"/>
                    <a:pt x="1723450" y="6903"/>
                  </a:cubicBezTo>
                  <a:cubicBezTo>
                    <a:pt x="1727870" y="11323"/>
                    <a:pt x="1730353" y="17317"/>
                    <a:pt x="1730353" y="23568"/>
                  </a:cubicBezTo>
                  <a:lnTo>
                    <a:pt x="1730353" y="1443325"/>
                  </a:lnTo>
                  <a:cubicBezTo>
                    <a:pt x="1730353" y="1449576"/>
                    <a:pt x="1727870" y="1455570"/>
                    <a:pt x="1723450" y="1459990"/>
                  </a:cubicBezTo>
                  <a:cubicBezTo>
                    <a:pt x="1719030" y="1464410"/>
                    <a:pt x="1713036" y="1466893"/>
                    <a:pt x="1706785" y="1466893"/>
                  </a:cubicBezTo>
                  <a:lnTo>
                    <a:pt x="23568" y="1466893"/>
                  </a:lnTo>
                  <a:cubicBezTo>
                    <a:pt x="17317" y="1466893"/>
                    <a:pt x="11323" y="1464410"/>
                    <a:pt x="6903" y="1459990"/>
                  </a:cubicBezTo>
                  <a:cubicBezTo>
                    <a:pt x="2483" y="1455570"/>
                    <a:pt x="0" y="1449576"/>
                    <a:pt x="0" y="1443325"/>
                  </a:cubicBezTo>
                  <a:lnTo>
                    <a:pt x="0" y="23568"/>
                  </a:lnTo>
                  <a:cubicBezTo>
                    <a:pt x="0" y="17317"/>
                    <a:pt x="2483" y="11323"/>
                    <a:pt x="6903" y="6903"/>
                  </a:cubicBezTo>
                  <a:cubicBezTo>
                    <a:pt x="11323" y="2483"/>
                    <a:pt x="17317" y="0"/>
                    <a:pt x="235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1730353" cy="149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604970" y="4445575"/>
            <a:ext cx="3970089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b="true" sz="2300" spc="14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Whisper AI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03877" y="5834955"/>
            <a:ext cx="5754701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23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Akurat, sesuai dengan isi audio ("aku suka bola").</a:t>
            </a:r>
          </a:p>
          <a:p>
            <a:pPr algn="ctr" marL="0" indent="0" lvl="0">
              <a:lnSpc>
                <a:spcPts val="4079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2920873" y="5647630"/>
            <a:ext cx="5754701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79"/>
              </a:lnSpc>
              <a:spcBef>
                <a:spcPct val="0"/>
              </a:spcBef>
            </a:pPr>
            <a:r>
              <a:rPr lang="en-US" sz="239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Akurasi rendah, Tidak sesuai dengan input audio ("aku suka bola" menjadi "pada").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650744" cy="515862"/>
          </a:xfrm>
          <a:custGeom>
            <a:avLst/>
            <a:gdLst/>
            <a:ahLst/>
            <a:cxnLst/>
            <a:rect r="r" b="b" t="t" l="l"/>
            <a:pathLst>
              <a:path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33372" y="4264027"/>
            <a:ext cx="243672" cy="24367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341556" y="1514963"/>
            <a:ext cx="243672" cy="24367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177044" y="3929967"/>
            <a:ext cx="408184" cy="40818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933372" y="1180903"/>
            <a:ext cx="408184" cy="40818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738627" y="8934113"/>
            <a:ext cx="1971124" cy="197112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6747506" y="459270"/>
          <a:ext cx="10033466" cy="9242647"/>
        </p:xfrm>
        <a:graphic>
          <a:graphicData uri="http://schemas.openxmlformats.org/drawingml/2006/table">
            <a:tbl>
              <a:tblPr/>
              <a:tblGrid>
                <a:gridCol w="3344489"/>
                <a:gridCol w="3344489"/>
                <a:gridCol w="3344489"/>
              </a:tblGrid>
              <a:tr h="86538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Aspek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LSTM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Whisper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51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Arsitektur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Long Short-Term Memory (LSTM), model sekuensial berbasis RNN yang memproses data secara urut.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Transformer-based model dengan arsitektur modern, dirancang untuk tugas-tugas beragam.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29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Akurasi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Sangat rendah (4%), hasil transkripsi tidak sesuai.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Tinggi, mampu mengenali teks dengan baik dari audio.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07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Kebutuhan Dataset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Memerlukan dataset besar yang seimbang dan berkualitas tinggi untuk hasil optimal.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Sudah dilatih pada dataset besar, dapat digunakan langsung tanpa pelatihan ulang.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07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Proses Denoising Audio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Manual, membutuhkan algoritma tambahan dan waktu lama.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Tidak diperlukan, Whisper menangani berbagai kualitas audio secara langsung.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29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Kecepatan Proses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Lambat, terutama pada proses denoise dan ekstraksi fitur.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Cepat, terutama pada perangkat keras yang mendukung (GPU).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9" id="19"/>
          <p:cNvSpPr txBox="true"/>
          <p:nvPr/>
        </p:nvSpPr>
        <p:spPr>
          <a:xfrm rot="0">
            <a:off x="-2847136" y="4868486"/>
            <a:ext cx="12600106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7"/>
              </a:lnSpc>
            </a:pPr>
            <a:r>
              <a:rPr lang="en-US" sz="63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Perbandingan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80696" y="1055868"/>
            <a:ext cx="3917528" cy="413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45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Kelompok 17 - PSD23D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650744" cy="515862"/>
          </a:xfrm>
          <a:custGeom>
            <a:avLst/>
            <a:gdLst/>
            <a:ahLst/>
            <a:cxnLst/>
            <a:rect r="r" b="b" t="t" l="l"/>
            <a:pathLst>
              <a:path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33372" y="4264027"/>
            <a:ext cx="243672" cy="24367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341556" y="1514963"/>
            <a:ext cx="243672" cy="24367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177044" y="3929967"/>
            <a:ext cx="408184" cy="40818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933372" y="1180903"/>
            <a:ext cx="408184" cy="40818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738627" y="8934113"/>
            <a:ext cx="1971124" cy="197112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7028299" y="432173"/>
          <a:ext cx="9505023" cy="9490637"/>
        </p:xfrm>
        <a:graphic>
          <a:graphicData uri="http://schemas.openxmlformats.org/drawingml/2006/table">
            <a:tbl>
              <a:tblPr/>
              <a:tblGrid>
                <a:gridCol w="3168341"/>
                <a:gridCol w="3168341"/>
                <a:gridCol w="3168341"/>
              </a:tblGrid>
              <a:tr h="19115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Kemampuan Multibahasa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Terbatas, perlu pelatihan ulang untuk bahasa tertentu.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Mendukung berbagai bahasa secara bawaan, termasuk Bahasa Indonesia.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49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Kemampuan Generalisasi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Sulit menangani variasi suara dan aksen tanpa pelatihan tambahan.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Unggul, mampu menangani variasi suara, aksen, dan kualitas audio dengan baik.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49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Kemudahan Implementasi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Membutuhkan banyak langkah manual seperti feature extraction dan denoising.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Mudah digunakan dengan fungsi bawaan yang langsung menghasilkan transkripsi.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15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Kebutuhan Perangkat Keras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Bisa berjalan di CPU, tetapi lambat; membutuhkan GPU untuk efisiensi.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Dapat berjalan di CPU, tetapi optimal di GPU untuk performa tinggi.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976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Output Transkripsi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Tidak sesuai dengan input audio ("aku suka bola" menjadi "pada").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Akurat, sesuai dengan isi audio ("aku suka bola").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9" id="19"/>
          <p:cNvSpPr txBox="true"/>
          <p:nvPr/>
        </p:nvSpPr>
        <p:spPr>
          <a:xfrm rot="0">
            <a:off x="-2663029" y="4507698"/>
            <a:ext cx="12600106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7"/>
              </a:lnSpc>
            </a:pPr>
            <a:r>
              <a:rPr lang="en-US" sz="63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Perbandingan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80696" y="1055868"/>
            <a:ext cx="3917528" cy="413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45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Kelompok 17 - PSD23D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650744" cy="515862"/>
          </a:xfrm>
          <a:custGeom>
            <a:avLst/>
            <a:gdLst/>
            <a:ahLst/>
            <a:cxnLst/>
            <a:rect r="r" b="b" t="t" l="l"/>
            <a:pathLst>
              <a:path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79444" y="1997437"/>
            <a:ext cx="11006693" cy="10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Kesimpulan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154900" y="1659900"/>
            <a:ext cx="223236" cy="22323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14144" y="4949440"/>
            <a:ext cx="345156" cy="34515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684564" y="9301438"/>
            <a:ext cx="1971124" cy="197112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80696" y="1055868"/>
            <a:ext cx="3721634" cy="413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45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Kelompok 17 - PSD23D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41440" y="3772870"/>
            <a:ext cx="15005120" cy="2910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716"/>
              </a:lnSpc>
              <a:spcBef>
                <a:spcPct val="0"/>
              </a:spcBef>
            </a:pPr>
            <a:r>
              <a:rPr lang="en-US" sz="2774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Proyek ini membandingkan model Whisper dan LSTM untuk sistem speech-to-text Bahasa Indonesia. Whisper unggul dengan akurasi tinggi, cepat, dan mampu menangani berbagai aksen, cocok untuk aplikasi real-time. Sebaliknya, LSTM memiliki akurasi rendah (4%) dan bergantung pada dataset serta preprocessing yang lebih baik. Whisper direkomendasikan, sementara LSTM memerlukan pengembangan lebih lanjut untuk meningkatkan kinerjanya.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650744" cy="515862"/>
          </a:xfrm>
          <a:custGeom>
            <a:avLst/>
            <a:gdLst/>
            <a:ahLst/>
            <a:cxnLst/>
            <a:rect r="r" b="b" t="t" l="l"/>
            <a:pathLst>
              <a:path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765560" y="7841682"/>
            <a:ext cx="6337256" cy="0"/>
          </a:xfrm>
          <a:prstGeom prst="line">
            <a:avLst/>
          </a:prstGeom>
          <a:ln cap="flat" w="66675">
            <a:gradFill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880696" y="7473060"/>
            <a:ext cx="3047228" cy="737246"/>
            <a:chOff x="0" y="0"/>
            <a:chExt cx="1679757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79757" cy="406400"/>
            </a:xfrm>
            <a:custGeom>
              <a:avLst/>
              <a:gdLst/>
              <a:ahLst/>
              <a:cxnLst/>
              <a:rect r="r" b="b" t="t" l="l"/>
              <a:pathLst>
                <a:path h="406400" w="1679757">
                  <a:moveTo>
                    <a:pt x="1476557" y="0"/>
                  </a:moveTo>
                  <a:cubicBezTo>
                    <a:pt x="1588781" y="0"/>
                    <a:pt x="1679757" y="90976"/>
                    <a:pt x="1679757" y="203200"/>
                  </a:cubicBezTo>
                  <a:cubicBezTo>
                    <a:pt x="1679757" y="315424"/>
                    <a:pt x="1588781" y="406400"/>
                    <a:pt x="14765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679757" cy="454025"/>
            </a:xfrm>
            <a:prstGeom prst="rect">
              <a:avLst/>
            </a:prstGeom>
          </p:spPr>
          <p:txBody>
            <a:bodyPr anchor="ctr" rtlCol="false" tIns="31690" lIns="31690" bIns="31690" rIns="3169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80696" y="3252136"/>
            <a:ext cx="12682850" cy="3748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35"/>
              </a:lnSpc>
            </a:pPr>
            <a:r>
              <a:rPr lang="en-US" sz="1330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 For Attention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80696" y="1055868"/>
            <a:ext cx="3828792" cy="842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45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Kelompok 17 - PSD23D</a:t>
            </a:r>
          </a:p>
          <a:p>
            <a:pPr algn="l">
              <a:lnSpc>
                <a:spcPts val="343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102259" y="7610920"/>
            <a:ext cx="2663301" cy="413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45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See You Next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54367" y="8594705"/>
            <a:ext cx="425077" cy="42507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382629" y="9054460"/>
            <a:ext cx="203840" cy="20384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836531" y="3923285"/>
            <a:ext cx="412262" cy="41226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-418546" y="8807243"/>
            <a:ext cx="1971124" cy="197112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DAGa3yFU-P4</dc:identifier>
  <dcterms:modified xsi:type="dcterms:W3CDTF">2011-08-01T06:04:30Z</dcterms:modified>
  <cp:revision>1</cp:revision>
  <dc:title>Blue Green Modern Bold Digital Marketing Presentation</dc:title>
</cp:coreProperties>
</file>